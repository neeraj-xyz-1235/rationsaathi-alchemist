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64" r:id="rId5"/>
    <p:sldId id="259" r:id="rId6"/>
    <p:sldId id="260" r:id="rId7"/>
    <p:sldId id="261" r:id="rId8"/>
    <p:sldId id="262" r:id="rId9"/>
    <p:sldId id="263" r:id="rId10"/>
  </p:sldIdLst>
  <p:sldSz cx="18288000" cy="10287000"/>
  <p:notesSz cx="6858000" cy="9144000"/>
  <p:embeddedFontLst>
    <p:embeddedFont>
      <p:font typeface="Heading Now 31-38" panose="020B0604020202020204" charset="0"/>
      <p:regular r:id="rId11"/>
    </p:embeddedFont>
    <p:embeddedFont>
      <p:font typeface="Heading Now 31-38 Bold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4" d="100"/>
          <a:sy n="44" d="100"/>
        </p:scale>
        <p:origin x="876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jpe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12" Type="http://schemas.openxmlformats.org/officeDocument/2006/relationships/image" Target="../media/image1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9.png"/><Relationship Id="rId5" Type="http://schemas.openxmlformats.org/officeDocument/2006/relationships/image" Target="../media/image6.png"/><Relationship Id="rId10" Type="http://schemas.openxmlformats.org/officeDocument/2006/relationships/image" Target="../media/image2.png"/><Relationship Id="rId4" Type="http://schemas.openxmlformats.org/officeDocument/2006/relationships/image" Target="../media/image5.png"/><Relationship Id="rId9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6.jpe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12" Type="http://schemas.openxmlformats.org/officeDocument/2006/relationships/image" Target="../media/image15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9.png"/><Relationship Id="rId5" Type="http://schemas.openxmlformats.org/officeDocument/2006/relationships/image" Target="../media/image6.png"/><Relationship Id="rId10" Type="http://schemas.openxmlformats.org/officeDocument/2006/relationships/image" Target="../media/image2.png"/><Relationship Id="rId4" Type="http://schemas.openxmlformats.org/officeDocument/2006/relationships/image" Target="../media/image5.png"/><Relationship Id="rId9" Type="http://schemas.openxmlformats.org/officeDocument/2006/relationships/image" Target="../media/image13.png"/><Relationship Id="rId14" Type="http://schemas.openxmlformats.org/officeDocument/2006/relationships/image" Target="../media/image17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9.jpe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12" Type="http://schemas.openxmlformats.org/officeDocument/2006/relationships/image" Target="../media/image18.jpeg"/><Relationship Id="rId2" Type="http://schemas.openxmlformats.org/officeDocument/2006/relationships/image" Target="../media/image11.png"/><Relationship Id="rId16" Type="http://schemas.openxmlformats.org/officeDocument/2006/relationships/image" Target="../media/image2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9.png"/><Relationship Id="rId5" Type="http://schemas.openxmlformats.org/officeDocument/2006/relationships/image" Target="../media/image6.png"/><Relationship Id="rId15" Type="http://schemas.openxmlformats.org/officeDocument/2006/relationships/image" Target="../media/image21.jpeg"/><Relationship Id="rId10" Type="http://schemas.openxmlformats.org/officeDocument/2006/relationships/image" Target="../media/image2.png"/><Relationship Id="rId4" Type="http://schemas.openxmlformats.org/officeDocument/2006/relationships/image" Target="../media/image5.png"/><Relationship Id="rId9" Type="http://schemas.openxmlformats.org/officeDocument/2006/relationships/image" Target="../media/image13.png"/><Relationship Id="rId14" Type="http://schemas.openxmlformats.org/officeDocument/2006/relationships/image" Target="../media/image20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12" Type="http://schemas.openxmlformats.org/officeDocument/2006/relationships/image" Target="../media/image2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2.png"/><Relationship Id="rId5" Type="http://schemas.openxmlformats.org/officeDocument/2006/relationships/image" Target="../media/image6.png"/><Relationship Id="rId10" Type="http://schemas.openxmlformats.org/officeDocument/2006/relationships/image" Target="../media/image9.png"/><Relationship Id="rId4" Type="http://schemas.openxmlformats.org/officeDocument/2006/relationships/image" Target="../media/image5.png"/><Relationship Id="rId9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12" Type="http://schemas.openxmlformats.org/officeDocument/2006/relationships/image" Target="../media/image2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2.png"/><Relationship Id="rId5" Type="http://schemas.openxmlformats.org/officeDocument/2006/relationships/image" Target="../media/image5.png"/><Relationship Id="rId10" Type="http://schemas.openxmlformats.org/officeDocument/2006/relationships/image" Target="../media/image9.png"/><Relationship Id="rId4" Type="http://schemas.openxmlformats.org/officeDocument/2006/relationships/image" Target="../media/image12.png"/><Relationship Id="rId9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12" Type="http://schemas.openxmlformats.org/officeDocument/2006/relationships/image" Target="../media/image2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2.png"/><Relationship Id="rId5" Type="http://schemas.openxmlformats.org/officeDocument/2006/relationships/image" Target="../media/image6.png"/><Relationship Id="rId10" Type="http://schemas.openxmlformats.org/officeDocument/2006/relationships/image" Target="../media/image9.png"/><Relationship Id="rId4" Type="http://schemas.openxmlformats.org/officeDocument/2006/relationships/image" Target="../media/image5.png"/><Relationship Id="rId9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12" Type="http://schemas.openxmlformats.org/officeDocument/2006/relationships/image" Target="../media/image2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2.png"/><Relationship Id="rId5" Type="http://schemas.openxmlformats.org/officeDocument/2006/relationships/image" Target="../media/image6.png"/><Relationship Id="rId10" Type="http://schemas.openxmlformats.org/officeDocument/2006/relationships/image" Target="../media/image9.png"/><Relationship Id="rId4" Type="http://schemas.openxmlformats.org/officeDocument/2006/relationships/image" Target="../media/image5.png"/><Relationship Id="rId9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38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12" Type="http://schemas.openxmlformats.org/officeDocument/2006/relationships/image" Target="../media/image37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Relationship Id="rId1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8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416893" y="4930326"/>
            <a:ext cx="1790743" cy="1009954"/>
          </a:xfrm>
          <a:custGeom>
            <a:avLst/>
            <a:gdLst/>
            <a:ahLst/>
            <a:cxnLst/>
            <a:rect l="l" t="t" r="r" b="b"/>
            <a:pathLst>
              <a:path w="1790743" h="1009954">
                <a:moveTo>
                  <a:pt x="0" y="0"/>
                </a:moveTo>
                <a:lnTo>
                  <a:pt x="1790744" y="0"/>
                </a:lnTo>
                <a:lnTo>
                  <a:pt x="1790744" y="1009954"/>
                </a:lnTo>
                <a:lnTo>
                  <a:pt x="0" y="10099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9000"/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11624" y="7921884"/>
            <a:ext cx="5548196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71"/>
              </a:lnSpc>
            </a:pPr>
            <a:r>
              <a:rPr lang="en-US" sz="4771" b="1" spc="46" dirty="0">
                <a:solidFill>
                  <a:srgbClr val="4E4A76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TEAM NAME : </a:t>
            </a:r>
            <a:r>
              <a:rPr lang="en-US" sz="4771" b="1" spc="46" dirty="0"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Code Alchemists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36678" y="5205841"/>
            <a:ext cx="7336832" cy="19620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148"/>
              </a:lnSpc>
            </a:pPr>
            <a:r>
              <a:rPr lang="en-US" sz="5148" b="1" spc="50" dirty="0">
                <a:solidFill>
                  <a:srgbClr val="1A2651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PROBLEM STATEMENT TITLE : </a:t>
            </a:r>
            <a:r>
              <a:rPr lang="fr-FR" sz="5148" b="1" spc="50" dirty="0" err="1">
                <a:latin typeface="Heading Now 31-38 Bold"/>
              </a:rPr>
              <a:t>RationSaathi</a:t>
            </a:r>
            <a:r>
              <a:rPr lang="fr-FR" sz="5148" b="1" spc="50" dirty="0">
                <a:latin typeface="Heading Now 31-38 Bold"/>
              </a:rPr>
              <a:t>: Public Distribution </a:t>
            </a:r>
            <a:r>
              <a:rPr lang="fr-FR" sz="5148" b="1" spc="50" dirty="0" err="1">
                <a:latin typeface="Heading Now 31-38 Bold"/>
              </a:rPr>
              <a:t>Entitlement</a:t>
            </a:r>
            <a:r>
              <a:rPr lang="fr-FR" sz="5148" b="1" spc="50" dirty="0">
                <a:latin typeface="Heading Now 31-38 Bold"/>
              </a:rPr>
              <a:t> &amp; Dispute Assistant</a:t>
            </a:r>
            <a:r>
              <a:rPr lang="en-US" sz="5148" b="1" spc="50" dirty="0">
                <a:latin typeface="Heading Now 31-38 Bold"/>
                <a:sym typeface="Heading Now 31-38 Bold"/>
              </a:rPr>
              <a:t>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36677" y="3700840"/>
            <a:ext cx="6250076" cy="654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48"/>
              </a:lnSpc>
            </a:pPr>
            <a:r>
              <a:rPr lang="en-US" sz="5148" b="1" spc="50" dirty="0">
                <a:solidFill>
                  <a:srgbClr val="4E4A76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DOMAIN &amp; NO :</a:t>
            </a:r>
            <a:r>
              <a:rPr lang="en-US" sz="5148" b="1" spc="50" dirty="0">
                <a:solidFill>
                  <a:srgbClr val="161F3E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  </a:t>
            </a:r>
            <a:r>
              <a:rPr lang="en-US" sz="5148" b="1" spc="50" dirty="0">
                <a:solidFill>
                  <a:srgbClr val="161F3E"/>
                </a:solidFill>
                <a:latin typeface="Heading Now 31-38"/>
                <a:ea typeface="Heading Now 31-38 Bold"/>
                <a:cs typeface="Heading Now 31-38 Bold"/>
                <a:sym typeface="Heading Now 31-38"/>
              </a:rPr>
              <a:t>6</a:t>
            </a:r>
            <a:r>
              <a:rPr lang="en-US" sz="5148" b="1" spc="50" dirty="0">
                <a:solidFill>
                  <a:srgbClr val="161F3E"/>
                </a:solidFill>
                <a:latin typeface="Heading Now 31-38"/>
                <a:ea typeface="Heading Now 31-38"/>
                <a:cs typeface="Heading Now 31-38"/>
                <a:sym typeface="Heading Now 31-38"/>
              </a:rPr>
              <a:t>, P-01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71742" y="8675135"/>
            <a:ext cx="3868017" cy="6882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4472" b="1" spc="43" dirty="0">
                <a:solidFill>
                  <a:srgbClr val="4E4A76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TEAM ID : </a:t>
            </a:r>
            <a:r>
              <a:rPr lang="en-IN" sz="4472" b="1" spc="43" dirty="0">
                <a:latin typeface="Heading Now 31-38 Bold"/>
              </a:rPr>
              <a:t>VTX26-25624</a:t>
            </a:r>
            <a:endParaRPr lang="en-US" sz="4472" b="1" spc="43" dirty="0">
              <a:latin typeface="Heading Now 31-38 Bold"/>
              <a:sym typeface="Heading Now 31-38 Bold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16127273" y="239946"/>
            <a:ext cx="2160727" cy="2160727"/>
          </a:xfrm>
          <a:custGeom>
            <a:avLst/>
            <a:gdLst/>
            <a:ahLst/>
            <a:cxnLst/>
            <a:rect l="l" t="t" r="r" b="b"/>
            <a:pathLst>
              <a:path w="2160727" h="2160727">
                <a:moveTo>
                  <a:pt x="0" y="0"/>
                </a:moveTo>
                <a:lnTo>
                  <a:pt x="2160727" y="0"/>
                </a:lnTo>
                <a:lnTo>
                  <a:pt x="2160727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427876" y="753436"/>
            <a:ext cx="4010276" cy="20964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306"/>
              </a:lnSpc>
            </a:pPr>
            <a:r>
              <a:rPr lang="en-US" sz="13306" b="1" spc="129" dirty="0">
                <a:solidFill>
                  <a:srgbClr val="3C3B56">
                    <a:alpha val="84706"/>
                  </a:srgbClr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VORTEXA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621045" y="734434"/>
            <a:ext cx="1413653" cy="20964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306"/>
              </a:lnSpc>
            </a:pPr>
            <a:r>
              <a:rPr lang="en-US" sz="13306" b="1" spc="129" dirty="0">
                <a:solidFill>
                  <a:srgbClr val="7F5E87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3.0</a:t>
            </a:r>
          </a:p>
        </p:txBody>
      </p:sp>
      <p:sp>
        <p:nvSpPr>
          <p:cNvPr id="10" name="Freeform 10"/>
          <p:cNvSpPr/>
          <p:nvPr/>
        </p:nvSpPr>
        <p:spPr>
          <a:xfrm>
            <a:off x="427876" y="2201546"/>
            <a:ext cx="5496285" cy="239623"/>
          </a:xfrm>
          <a:custGeom>
            <a:avLst/>
            <a:gdLst/>
            <a:ahLst/>
            <a:cxnLst/>
            <a:rect l="l" t="t" r="r" b="b"/>
            <a:pathLst>
              <a:path w="5496285" h="239623">
                <a:moveTo>
                  <a:pt x="0" y="0"/>
                </a:moveTo>
                <a:lnTo>
                  <a:pt x="5496285" y="0"/>
                </a:lnTo>
                <a:lnTo>
                  <a:pt x="5496285" y="239623"/>
                </a:lnTo>
                <a:lnTo>
                  <a:pt x="0" y="2396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6181496" y="1747988"/>
            <a:ext cx="2453149" cy="573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8"/>
              </a:lnSpc>
            </a:pPr>
            <a:r>
              <a:rPr lang="en-US" sz="3608" b="1" spc="89" dirty="0">
                <a:solidFill>
                  <a:srgbClr val="3F3F3F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12 HRS HACKATHON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69333" y="2639115"/>
            <a:ext cx="2119254" cy="431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1"/>
              </a:lnSpc>
            </a:pPr>
            <a:r>
              <a:rPr lang="en-US" sz="2721" b="1" spc="67" dirty="0">
                <a:solidFill>
                  <a:srgbClr val="161F3E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POWERED BY </a:t>
            </a:r>
            <a:r>
              <a:rPr lang="en-US" sz="2721" b="1" spc="67" dirty="0">
                <a:solidFill>
                  <a:srgbClr val="4E4A76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A.I.R.S</a:t>
            </a:r>
          </a:p>
        </p:txBody>
      </p:sp>
      <p:sp>
        <p:nvSpPr>
          <p:cNvPr id="13" name="Freeform 13"/>
          <p:cNvSpPr/>
          <p:nvPr/>
        </p:nvSpPr>
        <p:spPr>
          <a:xfrm>
            <a:off x="0" y="-303755"/>
            <a:ext cx="1750048" cy="10607152"/>
          </a:xfrm>
          <a:custGeom>
            <a:avLst/>
            <a:gdLst/>
            <a:ahLst/>
            <a:cxnLst/>
            <a:rect l="l" t="t" r="r" b="b"/>
            <a:pathLst>
              <a:path w="1750048" h="10607152">
                <a:moveTo>
                  <a:pt x="0" y="0"/>
                </a:moveTo>
                <a:lnTo>
                  <a:pt x="1750048" y="0"/>
                </a:lnTo>
                <a:lnTo>
                  <a:pt x="1750048" y="10607153"/>
                </a:lnTo>
                <a:lnTo>
                  <a:pt x="0" y="1060715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785" r="-3785"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4361330" y="6635716"/>
            <a:ext cx="1750048" cy="1727254"/>
          </a:xfrm>
          <a:custGeom>
            <a:avLst/>
            <a:gdLst/>
            <a:ahLst/>
            <a:cxnLst/>
            <a:rect l="l" t="t" r="r" b="b"/>
            <a:pathLst>
              <a:path w="1750048" h="1727254">
                <a:moveTo>
                  <a:pt x="0" y="0"/>
                </a:moveTo>
                <a:lnTo>
                  <a:pt x="1750048" y="0"/>
                </a:lnTo>
                <a:lnTo>
                  <a:pt x="1750048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2739803" y="7046873"/>
            <a:ext cx="5548197" cy="3256525"/>
          </a:xfrm>
          <a:custGeom>
            <a:avLst/>
            <a:gdLst/>
            <a:ahLst/>
            <a:cxnLst/>
            <a:rect l="l" t="t" r="r" b="b"/>
            <a:pathLst>
              <a:path w="5548197" h="3256525">
                <a:moveTo>
                  <a:pt x="0" y="0"/>
                </a:moveTo>
                <a:lnTo>
                  <a:pt x="5548197" y="0"/>
                </a:lnTo>
                <a:lnTo>
                  <a:pt x="5548197" y="3256525"/>
                </a:lnTo>
                <a:lnTo>
                  <a:pt x="0" y="32565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9154" b="-3059"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6975464" y="5455062"/>
            <a:ext cx="1312536" cy="4088563"/>
          </a:xfrm>
          <a:custGeom>
            <a:avLst/>
            <a:gdLst/>
            <a:ahLst/>
            <a:cxnLst/>
            <a:rect l="l" t="t" r="r" b="b"/>
            <a:pathLst>
              <a:path w="1312536" h="4088563">
                <a:moveTo>
                  <a:pt x="0" y="0"/>
                </a:moveTo>
                <a:lnTo>
                  <a:pt x="1312536" y="0"/>
                </a:lnTo>
                <a:lnTo>
                  <a:pt x="1312536" y="4088563"/>
                </a:lnTo>
                <a:lnTo>
                  <a:pt x="0" y="408856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6706941" y="7046873"/>
            <a:ext cx="1104718" cy="2372241"/>
          </a:xfrm>
          <a:custGeom>
            <a:avLst/>
            <a:gdLst/>
            <a:ahLst/>
            <a:cxnLst/>
            <a:rect l="l" t="t" r="r" b="b"/>
            <a:pathLst>
              <a:path w="1104718" h="2372241">
                <a:moveTo>
                  <a:pt x="0" y="0"/>
                </a:moveTo>
                <a:lnTo>
                  <a:pt x="1104718" y="0"/>
                </a:lnTo>
                <a:lnTo>
                  <a:pt x="1104718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4727951" y="2550929"/>
            <a:ext cx="3560049" cy="1756785"/>
          </a:xfrm>
          <a:custGeom>
            <a:avLst/>
            <a:gdLst/>
            <a:ahLst/>
            <a:cxnLst/>
            <a:rect l="l" t="t" r="r" b="b"/>
            <a:pathLst>
              <a:path w="3560049" h="1756785">
                <a:moveTo>
                  <a:pt x="0" y="0"/>
                </a:moveTo>
                <a:lnTo>
                  <a:pt x="3560049" y="0"/>
                </a:lnTo>
                <a:lnTo>
                  <a:pt x="3560049" y="1756784"/>
                </a:lnTo>
                <a:lnTo>
                  <a:pt x="0" y="175678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57000"/>
            </a:blip>
            <a:stretch>
              <a:fillRect/>
            </a:stretch>
          </a:blipFill>
        </p:spPr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93167C5-9A90-3911-651C-2E33B1240B7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0341" y="3141277"/>
            <a:ext cx="8945917" cy="6222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479517"/>
            <a:chOff x="0" y="0"/>
            <a:chExt cx="24384000" cy="1397268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33397" cy="13147537"/>
            </a:xfrm>
            <a:custGeom>
              <a:avLst/>
              <a:gdLst/>
              <a:ahLst/>
              <a:cxnLst/>
              <a:rect l="l" t="t" r="r" b="b"/>
              <a:pathLst>
                <a:path w="2333397" h="13147537">
                  <a:moveTo>
                    <a:pt x="0" y="0"/>
                  </a:moveTo>
                  <a:lnTo>
                    <a:pt x="2333397" y="0"/>
                  </a:lnTo>
                  <a:lnTo>
                    <a:pt x="2333397" y="13147537"/>
                  </a:lnTo>
                  <a:lnTo>
                    <a:pt x="0" y="131475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9148440" y="8847622"/>
              <a:ext cx="2333397" cy="2303005"/>
            </a:xfrm>
            <a:custGeom>
              <a:avLst/>
              <a:gdLst/>
              <a:ahLst/>
              <a:cxnLst/>
              <a:rect l="l" t="t" r="r" b="b"/>
              <a:pathLst>
                <a:path w="2333397" h="2303005">
                  <a:moveTo>
                    <a:pt x="0" y="0"/>
                  </a:moveTo>
                  <a:lnTo>
                    <a:pt x="2333397" y="0"/>
                  </a:lnTo>
                  <a:lnTo>
                    <a:pt x="2333397" y="2303005"/>
                  </a:lnTo>
                  <a:lnTo>
                    <a:pt x="0" y="2303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17412976" y="9395831"/>
              <a:ext cx="6971024" cy="4342033"/>
            </a:xfrm>
            <a:custGeom>
              <a:avLst/>
              <a:gdLst/>
              <a:ahLst/>
              <a:cxnLst/>
              <a:rect l="l" t="t" r="r" b="b"/>
              <a:pathLst>
                <a:path w="6971024" h="4342033">
                  <a:moveTo>
                    <a:pt x="0" y="0"/>
                  </a:moveTo>
                  <a:lnTo>
                    <a:pt x="6971024" y="0"/>
                  </a:lnTo>
                  <a:lnTo>
                    <a:pt x="6971024" y="4342033"/>
                  </a:lnTo>
                  <a:lnTo>
                    <a:pt x="0" y="4342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5743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9395831"/>
              <a:ext cx="1750048" cy="4576859"/>
            </a:xfrm>
            <a:custGeom>
              <a:avLst/>
              <a:gdLst/>
              <a:ahLst/>
              <a:cxnLst/>
              <a:rect l="l" t="t" r="r" b="b"/>
              <a:pathLst>
                <a:path w="1750048" h="4576859">
                  <a:moveTo>
                    <a:pt x="0" y="0"/>
                  </a:moveTo>
                  <a:lnTo>
                    <a:pt x="1750048" y="0"/>
                  </a:lnTo>
                  <a:lnTo>
                    <a:pt x="1750048" y="4576858"/>
                  </a:lnTo>
                  <a:lnTo>
                    <a:pt x="0" y="4576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22633952" y="7273416"/>
              <a:ext cx="1750048" cy="5451418"/>
            </a:xfrm>
            <a:custGeom>
              <a:avLst/>
              <a:gdLst/>
              <a:ahLst/>
              <a:cxnLst/>
              <a:rect l="l" t="t" r="r" b="b"/>
              <a:pathLst>
                <a:path w="1750048" h="5451418">
                  <a:moveTo>
                    <a:pt x="0" y="0"/>
                  </a:moveTo>
                  <a:lnTo>
                    <a:pt x="1750048" y="0"/>
                  </a:lnTo>
                  <a:lnTo>
                    <a:pt x="1750048" y="5451417"/>
                  </a:lnTo>
                  <a:lnTo>
                    <a:pt x="0" y="54514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2275922" y="9395831"/>
              <a:ext cx="1472957" cy="3162988"/>
            </a:xfrm>
            <a:custGeom>
              <a:avLst/>
              <a:gdLst/>
              <a:ahLst/>
              <a:cxnLst/>
              <a:rect l="l" t="t" r="r" b="b"/>
              <a:pathLst>
                <a:path w="1472957" h="3162988">
                  <a:moveTo>
                    <a:pt x="0" y="0"/>
                  </a:moveTo>
                  <a:lnTo>
                    <a:pt x="1472956" y="0"/>
                  </a:lnTo>
                  <a:lnTo>
                    <a:pt x="1472956" y="3162988"/>
                  </a:lnTo>
                  <a:lnTo>
                    <a:pt x="0" y="3162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-1447800" y="216170"/>
            <a:ext cx="8831116" cy="1200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00"/>
              </a:lnSpc>
            </a:pPr>
            <a:r>
              <a:rPr lang="en-US" sz="7500" b="1" spc="150" dirty="0">
                <a:solidFill>
                  <a:srgbClr val="172243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PROBLEM STATEMENT</a:t>
            </a:r>
          </a:p>
        </p:txBody>
      </p:sp>
      <p:sp>
        <p:nvSpPr>
          <p:cNvPr id="11" name="Freeform 11"/>
          <p:cNvSpPr/>
          <p:nvPr/>
        </p:nvSpPr>
        <p:spPr>
          <a:xfrm>
            <a:off x="255295" y="1028700"/>
            <a:ext cx="5020450" cy="535667"/>
          </a:xfrm>
          <a:custGeom>
            <a:avLst/>
            <a:gdLst/>
            <a:ahLst/>
            <a:cxnLst/>
            <a:rect l="l" t="t" r="r" b="b"/>
            <a:pathLst>
              <a:path w="5020450" h="535667">
                <a:moveTo>
                  <a:pt x="0" y="0"/>
                </a:moveTo>
                <a:lnTo>
                  <a:pt x="5020450" y="0"/>
                </a:lnTo>
                <a:lnTo>
                  <a:pt x="5020450" y="535667"/>
                </a:lnTo>
                <a:lnTo>
                  <a:pt x="0" y="5356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250" r="-11250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6178937" y="216170"/>
            <a:ext cx="2160727" cy="2160727"/>
          </a:xfrm>
          <a:custGeom>
            <a:avLst/>
            <a:gdLst/>
            <a:ahLst/>
            <a:cxnLst/>
            <a:rect l="l" t="t" r="r" b="b"/>
            <a:pathLst>
              <a:path w="2160727" h="2160727">
                <a:moveTo>
                  <a:pt x="0" y="0"/>
                </a:moveTo>
                <a:lnTo>
                  <a:pt x="2160726" y="0"/>
                </a:lnTo>
                <a:lnTo>
                  <a:pt x="2160726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3923818" y="2160727"/>
            <a:ext cx="4364182" cy="2153601"/>
          </a:xfrm>
          <a:custGeom>
            <a:avLst/>
            <a:gdLst/>
            <a:ahLst/>
            <a:cxnLst/>
            <a:rect l="l" t="t" r="r" b="b"/>
            <a:pathLst>
              <a:path w="4364182" h="2153601">
                <a:moveTo>
                  <a:pt x="0" y="0"/>
                </a:moveTo>
                <a:lnTo>
                  <a:pt x="4364182" y="0"/>
                </a:lnTo>
                <a:lnTo>
                  <a:pt x="4364182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68000"/>
            </a:blip>
            <a:stretch>
              <a:fillRect/>
            </a:stretch>
          </a:blipFill>
        </p:spPr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82D6EF1-4CBB-74D9-C2CF-7F9CAF80A9B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340" y="2431763"/>
            <a:ext cx="10037620" cy="669174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8277A51D-A033-20C0-481B-88F450526C12}"/>
              </a:ext>
            </a:extLst>
          </p:cNvPr>
          <p:cNvSpPr txBox="1"/>
          <p:nvPr/>
        </p:nvSpPr>
        <p:spPr>
          <a:xfrm>
            <a:off x="10844803" y="2197431"/>
            <a:ext cx="6934200" cy="7417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Lack of transparent and accessible ration entitlement tracking under the Public Distribution System (PDS).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Beneficiaries struggle to track their entitled and received ration quantities.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 receipts may be lost, damaged or difficult to understand.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Partial collections and stock shortages create confusion about remaining entitlements.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Citizens often lack organized evidence to communicate discrepancies effectively.</a:t>
            </a:r>
          </a:p>
          <a:p>
            <a:pPr lvl="0"/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simple, reliable system to compare ration entitlements with recorded collections and generate evidence-based reports.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479517"/>
            <a:chOff x="0" y="0"/>
            <a:chExt cx="24384000" cy="1397268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33397" cy="13147537"/>
            </a:xfrm>
            <a:custGeom>
              <a:avLst/>
              <a:gdLst/>
              <a:ahLst/>
              <a:cxnLst/>
              <a:rect l="l" t="t" r="r" b="b"/>
              <a:pathLst>
                <a:path w="2333397" h="13147537">
                  <a:moveTo>
                    <a:pt x="0" y="0"/>
                  </a:moveTo>
                  <a:lnTo>
                    <a:pt x="2333397" y="0"/>
                  </a:lnTo>
                  <a:lnTo>
                    <a:pt x="2333397" y="13147537"/>
                  </a:lnTo>
                  <a:lnTo>
                    <a:pt x="0" y="131475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9148440" y="8847622"/>
              <a:ext cx="2333397" cy="2303005"/>
            </a:xfrm>
            <a:custGeom>
              <a:avLst/>
              <a:gdLst/>
              <a:ahLst/>
              <a:cxnLst/>
              <a:rect l="l" t="t" r="r" b="b"/>
              <a:pathLst>
                <a:path w="2333397" h="2303005">
                  <a:moveTo>
                    <a:pt x="0" y="0"/>
                  </a:moveTo>
                  <a:lnTo>
                    <a:pt x="2333397" y="0"/>
                  </a:lnTo>
                  <a:lnTo>
                    <a:pt x="2333397" y="2303005"/>
                  </a:lnTo>
                  <a:lnTo>
                    <a:pt x="0" y="2303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17412976" y="9395831"/>
              <a:ext cx="6971024" cy="4342033"/>
            </a:xfrm>
            <a:custGeom>
              <a:avLst/>
              <a:gdLst/>
              <a:ahLst/>
              <a:cxnLst/>
              <a:rect l="l" t="t" r="r" b="b"/>
              <a:pathLst>
                <a:path w="6971024" h="4342033">
                  <a:moveTo>
                    <a:pt x="0" y="0"/>
                  </a:moveTo>
                  <a:lnTo>
                    <a:pt x="6971024" y="0"/>
                  </a:lnTo>
                  <a:lnTo>
                    <a:pt x="6971024" y="4342033"/>
                  </a:lnTo>
                  <a:lnTo>
                    <a:pt x="0" y="4342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5743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9395831"/>
              <a:ext cx="1750048" cy="4576859"/>
            </a:xfrm>
            <a:custGeom>
              <a:avLst/>
              <a:gdLst/>
              <a:ahLst/>
              <a:cxnLst/>
              <a:rect l="l" t="t" r="r" b="b"/>
              <a:pathLst>
                <a:path w="1750048" h="4576859">
                  <a:moveTo>
                    <a:pt x="0" y="0"/>
                  </a:moveTo>
                  <a:lnTo>
                    <a:pt x="1750048" y="0"/>
                  </a:lnTo>
                  <a:lnTo>
                    <a:pt x="1750048" y="4576858"/>
                  </a:lnTo>
                  <a:lnTo>
                    <a:pt x="0" y="4576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22633952" y="7273416"/>
              <a:ext cx="1750048" cy="5451418"/>
            </a:xfrm>
            <a:custGeom>
              <a:avLst/>
              <a:gdLst/>
              <a:ahLst/>
              <a:cxnLst/>
              <a:rect l="l" t="t" r="r" b="b"/>
              <a:pathLst>
                <a:path w="1750048" h="5451418">
                  <a:moveTo>
                    <a:pt x="0" y="0"/>
                  </a:moveTo>
                  <a:lnTo>
                    <a:pt x="1750048" y="0"/>
                  </a:lnTo>
                  <a:lnTo>
                    <a:pt x="1750048" y="5451417"/>
                  </a:lnTo>
                  <a:lnTo>
                    <a:pt x="0" y="54514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2275922" y="9395831"/>
              <a:ext cx="1472957" cy="3162988"/>
            </a:xfrm>
            <a:custGeom>
              <a:avLst/>
              <a:gdLst/>
              <a:ahLst/>
              <a:cxnLst/>
              <a:rect l="l" t="t" r="r" b="b"/>
              <a:pathLst>
                <a:path w="1472957" h="3162988">
                  <a:moveTo>
                    <a:pt x="0" y="0"/>
                  </a:moveTo>
                  <a:lnTo>
                    <a:pt x="1472956" y="0"/>
                  </a:lnTo>
                  <a:lnTo>
                    <a:pt x="1472956" y="3162988"/>
                  </a:lnTo>
                  <a:lnTo>
                    <a:pt x="0" y="3162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10886" y="216170"/>
            <a:ext cx="8831116" cy="1200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00"/>
              </a:lnSpc>
            </a:pPr>
            <a:r>
              <a:rPr lang="en-US" sz="7500" b="1" spc="150" dirty="0">
                <a:solidFill>
                  <a:srgbClr val="172243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IDEA TITLE / PROPOSED SOLUTION</a:t>
            </a:r>
          </a:p>
        </p:txBody>
      </p:sp>
      <p:sp>
        <p:nvSpPr>
          <p:cNvPr id="11" name="Freeform 11"/>
          <p:cNvSpPr/>
          <p:nvPr/>
        </p:nvSpPr>
        <p:spPr>
          <a:xfrm>
            <a:off x="255295" y="1028700"/>
            <a:ext cx="5020450" cy="535667"/>
          </a:xfrm>
          <a:custGeom>
            <a:avLst/>
            <a:gdLst/>
            <a:ahLst/>
            <a:cxnLst/>
            <a:rect l="l" t="t" r="r" b="b"/>
            <a:pathLst>
              <a:path w="5020450" h="535667">
                <a:moveTo>
                  <a:pt x="0" y="0"/>
                </a:moveTo>
                <a:lnTo>
                  <a:pt x="5020450" y="0"/>
                </a:lnTo>
                <a:lnTo>
                  <a:pt x="5020450" y="535667"/>
                </a:lnTo>
                <a:lnTo>
                  <a:pt x="0" y="5356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250" r="-11250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6382568" y="-192517"/>
            <a:ext cx="2160727" cy="2160727"/>
          </a:xfrm>
          <a:custGeom>
            <a:avLst/>
            <a:gdLst/>
            <a:ahLst/>
            <a:cxnLst/>
            <a:rect l="l" t="t" r="r" b="b"/>
            <a:pathLst>
              <a:path w="2160727" h="2160727">
                <a:moveTo>
                  <a:pt x="0" y="0"/>
                </a:moveTo>
                <a:lnTo>
                  <a:pt x="2160726" y="0"/>
                </a:lnTo>
                <a:lnTo>
                  <a:pt x="2160726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3923818" y="2160727"/>
            <a:ext cx="4364182" cy="2153601"/>
          </a:xfrm>
          <a:custGeom>
            <a:avLst/>
            <a:gdLst/>
            <a:ahLst/>
            <a:cxnLst/>
            <a:rect l="l" t="t" r="r" b="b"/>
            <a:pathLst>
              <a:path w="4364182" h="2153601">
                <a:moveTo>
                  <a:pt x="0" y="0"/>
                </a:moveTo>
                <a:lnTo>
                  <a:pt x="4364182" y="0"/>
                </a:lnTo>
                <a:lnTo>
                  <a:pt x="4364182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68000"/>
            </a:blip>
            <a:stretch>
              <a:fillRect/>
            </a:stretch>
          </a:blipFill>
        </p:spPr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384AD97-1CA9-C1B0-15E8-8E8C195ADE4B}"/>
              </a:ext>
            </a:extLst>
          </p:cNvPr>
          <p:cNvSpPr txBox="1"/>
          <p:nvPr/>
        </p:nvSpPr>
        <p:spPr>
          <a:xfrm>
            <a:off x="353136" y="1482832"/>
            <a:ext cx="9162046" cy="8683228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Solution: </a:t>
            </a:r>
            <a:r>
              <a:rPr lang="en-I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RationSaathi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RationSaathi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multilingual civic assistant that helps beneficiaries track their ration entitlements, record collections and identify quantity discrepancies.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Family-based entitlement and quota tracking.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AI-assisted extraction of quantities and dates from receipts or SMS text.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verification before records are included in calculations.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discrepancy reports with supporting evidence.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English, Hindi and Marathi language support.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Promote transparency and informed, non-confrontational grievance reporting.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1B0892C-B86E-FDE5-9353-D886395EAC6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8272" y="3416781"/>
            <a:ext cx="8306638" cy="376913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8B12310B-23DC-0F0B-AEDF-0B6826EE0646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5859" y="7155807"/>
            <a:ext cx="6375918" cy="31242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94C544A-9613-FB88-5CCD-C5E531A538A5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6587" y="243001"/>
            <a:ext cx="5148390" cy="314062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F1D26-54AF-6FE6-BA11-9B89F7A2F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AD8BBAB-1BBE-F28A-ABA6-44FDA1FFB0A1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E498702D-BE5C-01E5-DC15-4F0D27BAA7A1}"/>
              </a:ext>
            </a:extLst>
          </p:cNvPr>
          <p:cNvGrpSpPr/>
          <p:nvPr/>
        </p:nvGrpSpPr>
        <p:grpSpPr>
          <a:xfrm>
            <a:off x="0" y="0"/>
            <a:ext cx="18288000" cy="10479517"/>
            <a:chOff x="0" y="0"/>
            <a:chExt cx="24384000" cy="13972689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4870420D-B984-1BA5-BFE6-99CA45DF3D4C}"/>
                </a:ext>
              </a:extLst>
            </p:cNvPr>
            <p:cNvSpPr/>
            <p:nvPr/>
          </p:nvSpPr>
          <p:spPr>
            <a:xfrm>
              <a:off x="0" y="0"/>
              <a:ext cx="2333397" cy="13147537"/>
            </a:xfrm>
            <a:custGeom>
              <a:avLst/>
              <a:gdLst/>
              <a:ahLst/>
              <a:cxnLst/>
              <a:rect l="l" t="t" r="r" b="b"/>
              <a:pathLst>
                <a:path w="2333397" h="13147537">
                  <a:moveTo>
                    <a:pt x="0" y="0"/>
                  </a:moveTo>
                  <a:lnTo>
                    <a:pt x="2333397" y="0"/>
                  </a:lnTo>
                  <a:lnTo>
                    <a:pt x="2333397" y="13147537"/>
                  </a:lnTo>
                  <a:lnTo>
                    <a:pt x="0" y="131475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AFFCD553-BA39-B4D0-507F-F175D78D1245}"/>
                </a:ext>
              </a:extLst>
            </p:cNvPr>
            <p:cNvSpPr/>
            <p:nvPr/>
          </p:nvSpPr>
          <p:spPr>
            <a:xfrm>
              <a:off x="19148440" y="8847622"/>
              <a:ext cx="2333397" cy="2303005"/>
            </a:xfrm>
            <a:custGeom>
              <a:avLst/>
              <a:gdLst/>
              <a:ahLst/>
              <a:cxnLst/>
              <a:rect l="l" t="t" r="r" b="b"/>
              <a:pathLst>
                <a:path w="2333397" h="2303005">
                  <a:moveTo>
                    <a:pt x="0" y="0"/>
                  </a:moveTo>
                  <a:lnTo>
                    <a:pt x="2333397" y="0"/>
                  </a:lnTo>
                  <a:lnTo>
                    <a:pt x="2333397" y="2303005"/>
                  </a:lnTo>
                  <a:lnTo>
                    <a:pt x="0" y="2303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ACEA4742-FE2D-F925-D5C5-AD9082CDF8E4}"/>
                </a:ext>
              </a:extLst>
            </p:cNvPr>
            <p:cNvSpPr/>
            <p:nvPr/>
          </p:nvSpPr>
          <p:spPr>
            <a:xfrm>
              <a:off x="17412976" y="9395831"/>
              <a:ext cx="6971024" cy="4342033"/>
            </a:xfrm>
            <a:custGeom>
              <a:avLst/>
              <a:gdLst/>
              <a:ahLst/>
              <a:cxnLst/>
              <a:rect l="l" t="t" r="r" b="b"/>
              <a:pathLst>
                <a:path w="6971024" h="4342033">
                  <a:moveTo>
                    <a:pt x="0" y="0"/>
                  </a:moveTo>
                  <a:lnTo>
                    <a:pt x="6971024" y="0"/>
                  </a:lnTo>
                  <a:lnTo>
                    <a:pt x="6971024" y="4342033"/>
                  </a:lnTo>
                  <a:lnTo>
                    <a:pt x="0" y="4342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5743"/>
              </a:stretch>
            </a:blipFill>
          </p:spPr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B168DBF-5D36-ECE6-5884-95683F906AC7}"/>
                </a:ext>
              </a:extLst>
            </p:cNvPr>
            <p:cNvSpPr/>
            <p:nvPr/>
          </p:nvSpPr>
          <p:spPr>
            <a:xfrm>
              <a:off x="0" y="9395831"/>
              <a:ext cx="1750048" cy="4576859"/>
            </a:xfrm>
            <a:custGeom>
              <a:avLst/>
              <a:gdLst/>
              <a:ahLst/>
              <a:cxnLst/>
              <a:rect l="l" t="t" r="r" b="b"/>
              <a:pathLst>
                <a:path w="1750048" h="4576859">
                  <a:moveTo>
                    <a:pt x="0" y="0"/>
                  </a:moveTo>
                  <a:lnTo>
                    <a:pt x="1750048" y="0"/>
                  </a:lnTo>
                  <a:lnTo>
                    <a:pt x="1750048" y="4576858"/>
                  </a:lnTo>
                  <a:lnTo>
                    <a:pt x="0" y="4576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A232ACCF-2ABA-52AA-D8D3-09568BEBAC94}"/>
                </a:ext>
              </a:extLst>
            </p:cNvPr>
            <p:cNvSpPr/>
            <p:nvPr/>
          </p:nvSpPr>
          <p:spPr>
            <a:xfrm>
              <a:off x="22633952" y="7273416"/>
              <a:ext cx="1750048" cy="5451418"/>
            </a:xfrm>
            <a:custGeom>
              <a:avLst/>
              <a:gdLst/>
              <a:ahLst/>
              <a:cxnLst/>
              <a:rect l="l" t="t" r="r" b="b"/>
              <a:pathLst>
                <a:path w="1750048" h="5451418">
                  <a:moveTo>
                    <a:pt x="0" y="0"/>
                  </a:moveTo>
                  <a:lnTo>
                    <a:pt x="1750048" y="0"/>
                  </a:lnTo>
                  <a:lnTo>
                    <a:pt x="1750048" y="5451417"/>
                  </a:lnTo>
                  <a:lnTo>
                    <a:pt x="0" y="54514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B567AF18-BF8E-440B-9374-8004BECF6C36}"/>
                </a:ext>
              </a:extLst>
            </p:cNvPr>
            <p:cNvSpPr/>
            <p:nvPr/>
          </p:nvSpPr>
          <p:spPr>
            <a:xfrm>
              <a:off x="22275922" y="9395831"/>
              <a:ext cx="1472957" cy="3162988"/>
            </a:xfrm>
            <a:custGeom>
              <a:avLst/>
              <a:gdLst/>
              <a:ahLst/>
              <a:cxnLst/>
              <a:rect l="l" t="t" r="r" b="b"/>
              <a:pathLst>
                <a:path w="1472957" h="3162988">
                  <a:moveTo>
                    <a:pt x="0" y="0"/>
                  </a:moveTo>
                  <a:lnTo>
                    <a:pt x="1472956" y="0"/>
                  </a:lnTo>
                  <a:lnTo>
                    <a:pt x="1472956" y="3162988"/>
                  </a:lnTo>
                  <a:lnTo>
                    <a:pt x="0" y="3162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sp>
        <p:nvSpPr>
          <p:cNvPr id="10" name="TextBox 10">
            <a:extLst>
              <a:ext uri="{FF2B5EF4-FFF2-40B4-BE49-F238E27FC236}">
                <a16:creationId xmlns:a16="http://schemas.microsoft.com/office/drawing/2014/main" id="{0FFC8EBB-5ED5-D3AB-5991-E2A76E50CA8F}"/>
              </a:ext>
            </a:extLst>
          </p:cNvPr>
          <p:cNvSpPr txBox="1"/>
          <p:nvPr/>
        </p:nvSpPr>
        <p:spPr>
          <a:xfrm>
            <a:off x="10886" y="216170"/>
            <a:ext cx="8831116" cy="1200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00"/>
              </a:lnSpc>
            </a:pPr>
            <a:r>
              <a:rPr lang="en-US" sz="7500" b="1" spc="150" dirty="0">
                <a:solidFill>
                  <a:srgbClr val="172243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IDEA TITLE / PROPOSED SOLUTION</a:t>
            </a: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E5255CF5-7032-C2C8-1A08-B491BDFC3D2B}"/>
              </a:ext>
            </a:extLst>
          </p:cNvPr>
          <p:cNvSpPr/>
          <p:nvPr/>
        </p:nvSpPr>
        <p:spPr>
          <a:xfrm>
            <a:off x="255295" y="1028700"/>
            <a:ext cx="5020450" cy="535667"/>
          </a:xfrm>
          <a:custGeom>
            <a:avLst/>
            <a:gdLst/>
            <a:ahLst/>
            <a:cxnLst/>
            <a:rect l="l" t="t" r="r" b="b"/>
            <a:pathLst>
              <a:path w="5020450" h="535667">
                <a:moveTo>
                  <a:pt x="0" y="0"/>
                </a:moveTo>
                <a:lnTo>
                  <a:pt x="5020450" y="0"/>
                </a:lnTo>
                <a:lnTo>
                  <a:pt x="5020450" y="535667"/>
                </a:lnTo>
                <a:lnTo>
                  <a:pt x="0" y="5356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250" r="-11250"/>
            </a:stretch>
          </a:blipFill>
        </p:spPr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ED767903-B519-DD13-5DE5-BFF02D5EF1F1}"/>
              </a:ext>
            </a:extLst>
          </p:cNvPr>
          <p:cNvSpPr/>
          <p:nvPr/>
        </p:nvSpPr>
        <p:spPr>
          <a:xfrm>
            <a:off x="16178937" y="216170"/>
            <a:ext cx="2160727" cy="2160727"/>
          </a:xfrm>
          <a:custGeom>
            <a:avLst/>
            <a:gdLst/>
            <a:ahLst/>
            <a:cxnLst/>
            <a:rect l="l" t="t" r="r" b="b"/>
            <a:pathLst>
              <a:path w="2160727" h="2160727">
                <a:moveTo>
                  <a:pt x="0" y="0"/>
                </a:moveTo>
                <a:lnTo>
                  <a:pt x="2160726" y="0"/>
                </a:lnTo>
                <a:lnTo>
                  <a:pt x="2160726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135612E0-B569-F64A-61BA-2CFFD7021719}"/>
              </a:ext>
            </a:extLst>
          </p:cNvPr>
          <p:cNvSpPr/>
          <p:nvPr/>
        </p:nvSpPr>
        <p:spPr>
          <a:xfrm>
            <a:off x="13923818" y="2160727"/>
            <a:ext cx="4364182" cy="2153601"/>
          </a:xfrm>
          <a:custGeom>
            <a:avLst/>
            <a:gdLst/>
            <a:ahLst/>
            <a:cxnLst/>
            <a:rect l="l" t="t" r="r" b="b"/>
            <a:pathLst>
              <a:path w="4364182" h="2153601">
                <a:moveTo>
                  <a:pt x="0" y="0"/>
                </a:moveTo>
                <a:lnTo>
                  <a:pt x="4364182" y="0"/>
                </a:lnTo>
                <a:lnTo>
                  <a:pt x="4364182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68000"/>
            </a:blip>
            <a:stretch>
              <a:fillRect/>
            </a:stretch>
          </a:blipFill>
        </p:spPr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DE9C49B-91F4-E8EC-4A30-AF158E9E9C8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769" y="6086055"/>
            <a:ext cx="8226128" cy="401537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75BA58E-A7B3-1330-A296-DD3F5E3ADEA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0661" y="5972673"/>
            <a:ext cx="8746453" cy="426936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1B9A765-998C-8F5F-280C-A26D4DE11237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6564" y="284129"/>
            <a:ext cx="7720311" cy="447252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FBB22A0B-9450-800F-DE20-79F4BD9B7A94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295" y="1632490"/>
            <a:ext cx="7957548" cy="4237395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00A2234D-30C5-22B2-6300-D1A4E4EEBFE4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9527" y="4007355"/>
            <a:ext cx="5686425" cy="220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10941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5469" y="0"/>
            <a:ext cx="18288000" cy="10479517"/>
            <a:chOff x="0" y="0"/>
            <a:chExt cx="24384000" cy="1397268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33397" cy="13147537"/>
            </a:xfrm>
            <a:custGeom>
              <a:avLst/>
              <a:gdLst/>
              <a:ahLst/>
              <a:cxnLst/>
              <a:rect l="l" t="t" r="r" b="b"/>
              <a:pathLst>
                <a:path w="2333397" h="13147537">
                  <a:moveTo>
                    <a:pt x="0" y="0"/>
                  </a:moveTo>
                  <a:lnTo>
                    <a:pt x="2333397" y="0"/>
                  </a:lnTo>
                  <a:lnTo>
                    <a:pt x="2333397" y="13147537"/>
                  </a:lnTo>
                  <a:lnTo>
                    <a:pt x="0" y="131475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9148440" y="8847622"/>
              <a:ext cx="2333397" cy="2303005"/>
            </a:xfrm>
            <a:custGeom>
              <a:avLst/>
              <a:gdLst/>
              <a:ahLst/>
              <a:cxnLst/>
              <a:rect l="l" t="t" r="r" b="b"/>
              <a:pathLst>
                <a:path w="2333397" h="2303005">
                  <a:moveTo>
                    <a:pt x="0" y="0"/>
                  </a:moveTo>
                  <a:lnTo>
                    <a:pt x="2333397" y="0"/>
                  </a:lnTo>
                  <a:lnTo>
                    <a:pt x="2333397" y="2303005"/>
                  </a:lnTo>
                  <a:lnTo>
                    <a:pt x="0" y="2303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17412976" y="9395831"/>
              <a:ext cx="6971024" cy="4342033"/>
            </a:xfrm>
            <a:custGeom>
              <a:avLst/>
              <a:gdLst/>
              <a:ahLst/>
              <a:cxnLst/>
              <a:rect l="l" t="t" r="r" b="b"/>
              <a:pathLst>
                <a:path w="6971024" h="4342033">
                  <a:moveTo>
                    <a:pt x="0" y="0"/>
                  </a:moveTo>
                  <a:lnTo>
                    <a:pt x="6971024" y="0"/>
                  </a:lnTo>
                  <a:lnTo>
                    <a:pt x="6971024" y="4342033"/>
                  </a:lnTo>
                  <a:lnTo>
                    <a:pt x="0" y="4342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5743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9395831"/>
              <a:ext cx="1750048" cy="4576859"/>
            </a:xfrm>
            <a:custGeom>
              <a:avLst/>
              <a:gdLst/>
              <a:ahLst/>
              <a:cxnLst/>
              <a:rect l="l" t="t" r="r" b="b"/>
              <a:pathLst>
                <a:path w="1750048" h="4576859">
                  <a:moveTo>
                    <a:pt x="0" y="0"/>
                  </a:moveTo>
                  <a:lnTo>
                    <a:pt x="1750048" y="0"/>
                  </a:lnTo>
                  <a:lnTo>
                    <a:pt x="1750048" y="4576858"/>
                  </a:lnTo>
                  <a:lnTo>
                    <a:pt x="0" y="4576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22633952" y="7273416"/>
              <a:ext cx="1750048" cy="5451418"/>
            </a:xfrm>
            <a:custGeom>
              <a:avLst/>
              <a:gdLst/>
              <a:ahLst/>
              <a:cxnLst/>
              <a:rect l="l" t="t" r="r" b="b"/>
              <a:pathLst>
                <a:path w="1750048" h="5451418">
                  <a:moveTo>
                    <a:pt x="0" y="0"/>
                  </a:moveTo>
                  <a:lnTo>
                    <a:pt x="1750048" y="0"/>
                  </a:lnTo>
                  <a:lnTo>
                    <a:pt x="1750048" y="5451417"/>
                  </a:lnTo>
                  <a:lnTo>
                    <a:pt x="0" y="54514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2275922" y="9395831"/>
              <a:ext cx="1472957" cy="3162988"/>
            </a:xfrm>
            <a:custGeom>
              <a:avLst/>
              <a:gdLst/>
              <a:ahLst/>
              <a:cxnLst/>
              <a:rect l="l" t="t" r="r" b="b"/>
              <a:pathLst>
                <a:path w="1472957" h="3162988">
                  <a:moveTo>
                    <a:pt x="0" y="0"/>
                  </a:moveTo>
                  <a:lnTo>
                    <a:pt x="1472956" y="0"/>
                  </a:lnTo>
                  <a:lnTo>
                    <a:pt x="1472956" y="3162988"/>
                  </a:lnTo>
                  <a:lnTo>
                    <a:pt x="0" y="3162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235594" y="216170"/>
            <a:ext cx="5986011" cy="1200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00"/>
              </a:lnSpc>
            </a:pPr>
            <a:r>
              <a:rPr lang="en-US" sz="7500" b="1" spc="150" dirty="0">
                <a:solidFill>
                  <a:srgbClr val="172243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TECHNICAL APPROACH</a:t>
            </a:r>
          </a:p>
        </p:txBody>
      </p:sp>
      <p:sp>
        <p:nvSpPr>
          <p:cNvPr id="11" name="Freeform 11"/>
          <p:cNvSpPr/>
          <p:nvPr/>
        </p:nvSpPr>
        <p:spPr>
          <a:xfrm>
            <a:off x="257365" y="1028700"/>
            <a:ext cx="5020450" cy="535667"/>
          </a:xfrm>
          <a:custGeom>
            <a:avLst/>
            <a:gdLst/>
            <a:ahLst/>
            <a:cxnLst/>
            <a:rect l="l" t="t" r="r" b="b"/>
            <a:pathLst>
              <a:path w="5020450" h="535667">
                <a:moveTo>
                  <a:pt x="0" y="0"/>
                </a:moveTo>
                <a:lnTo>
                  <a:pt x="5020450" y="0"/>
                </a:lnTo>
                <a:lnTo>
                  <a:pt x="5020450" y="535667"/>
                </a:lnTo>
                <a:lnTo>
                  <a:pt x="0" y="5356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250" r="-11250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3923818" y="2160727"/>
            <a:ext cx="4364182" cy="2153601"/>
          </a:xfrm>
          <a:custGeom>
            <a:avLst/>
            <a:gdLst/>
            <a:ahLst/>
            <a:cxnLst/>
            <a:rect l="l" t="t" r="r" b="b"/>
            <a:pathLst>
              <a:path w="4364182" h="2153601">
                <a:moveTo>
                  <a:pt x="0" y="0"/>
                </a:moveTo>
                <a:lnTo>
                  <a:pt x="4364182" y="0"/>
                </a:lnTo>
                <a:lnTo>
                  <a:pt x="4364182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68000"/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6178937" y="216170"/>
            <a:ext cx="2160727" cy="2160727"/>
          </a:xfrm>
          <a:custGeom>
            <a:avLst/>
            <a:gdLst/>
            <a:ahLst/>
            <a:cxnLst/>
            <a:rect l="l" t="t" r="r" b="b"/>
            <a:pathLst>
              <a:path w="2160727" h="2160727">
                <a:moveTo>
                  <a:pt x="0" y="0"/>
                </a:moveTo>
                <a:lnTo>
                  <a:pt x="2160726" y="0"/>
                </a:lnTo>
                <a:lnTo>
                  <a:pt x="2160726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8A9E9C6-4A9F-DE0A-1E6F-AB39D16645A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545" y="1920662"/>
            <a:ext cx="12012289" cy="743626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A295186-346A-C3CA-A4FB-EC97C8A7EA37}"/>
              </a:ext>
            </a:extLst>
          </p:cNvPr>
          <p:cNvSpPr txBox="1"/>
          <p:nvPr/>
        </p:nvSpPr>
        <p:spPr>
          <a:xfrm>
            <a:off x="12730988" y="3084249"/>
            <a:ext cx="5256858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Workflow</a:t>
            </a:r>
            <a:endParaRPr lang="en-IN" sz="2800" dirty="0"/>
          </a:p>
          <a:p>
            <a:pPr lvl="0"/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buFont typeface="Wingdings" panose="05000000000000000000" pitchFamily="2" charset="2"/>
              <a:buChar char="§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 family details and entitlement rules.</a:t>
            </a:r>
          </a:p>
          <a:p>
            <a:pPr marL="457200" lvl="0" indent="-457200">
              <a:buFont typeface="Wingdings" panose="05000000000000000000" pitchFamily="2" charset="2"/>
              <a:buChar char="§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 receipt information and verify suggested values.</a:t>
            </a:r>
          </a:p>
          <a:p>
            <a:pPr marL="457200" lvl="0" indent="-457200">
              <a:buFont typeface="Wingdings" panose="05000000000000000000" pitchFamily="2" charset="2"/>
              <a:buChar char="§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expected, received and remaining quantities using deterministic logic.</a:t>
            </a:r>
          </a:p>
          <a:p>
            <a:pPr marL="457200" lvl="0" indent="-457200">
              <a:buFont typeface="Wingdings" panose="05000000000000000000" pitchFamily="2" charset="2"/>
              <a:buChar char="§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a neutral report with linked evidence.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0"/>
            <a:ext cx="1750048" cy="9860652"/>
          </a:xfrm>
          <a:custGeom>
            <a:avLst/>
            <a:gdLst/>
            <a:ahLst/>
            <a:cxnLst/>
            <a:rect l="l" t="t" r="r" b="b"/>
            <a:pathLst>
              <a:path w="1750048" h="9860652">
                <a:moveTo>
                  <a:pt x="0" y="0"/>
                </a:moveTo>
                <a:lnTo>
                  <a:pt x="1750048" y="0"/>
                </a:lnTo>
                <a:lnTo>
                  <a:pt x="1750048" y="9860652"/>
                </a:lnTo>
                <a:lnTo>
                  <a:pt x="0" y="98606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7046873"/>
            <a:ext cx="1312536" cy="3432644"/>
          </a:xfrm>
          <a:custGeom>
            <a:avLst/>
            <a:gdLst/>
            <a:ahLst/>
            <a:cxnLst/>
            <a:rect l="l" t="t" r="r" b="b"/>
            <a:pathLst>
              <a:path w="1312536" h="3432644">
                <a:moveTo>
                  <a:pt x="0" y="0"/>
                </a:moveTo>
                <a:lnTo>
                  <a:pt x="1312536" y="0"/>
                </a:lnTo>
                <a:lnTo>
                  <a:pt x="1312536" y="3432644"/>
                </a:lnTo>
                <a:lnTo>
                  <a:pt x="0" y="34326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3059732" y="5455062"/>
            <a:ext cx="5228268" cy="4848336"/>
            <a:chOff x="0" y="0"/>
            <a:chExt cx="6971024" cy="6464448"/>
          </a:xfrm>
        </p:grpSpPr>
        <p:sp>
          <p:nvSpPr>
            <p:cNvPr id="6" name="Freeform 6"/>
            <p:cNvSpPr/>
            <p:nvPr/>
          </p:nvSpPr>
          <p:spPr>
            <a:xfrm>
              <a:off x="1735464" y="1574206"/>
              <a:ext cx="2333397" cy="2303005"/>
            </a:xfrm>
            <a:custGeom>
              <a:avLst/>
              <a:gdLst/>
              <a:ahLst/>
              <a:cxnLst/>
              <a:rect l="l" t="t" r="r" b="b"/>
              <a:pathLst>
                <a:path w="2333397" h="2303005">
                  <a:moveTo>
                    <a:pt x="0" y="0"/>
                  </a:moveTo>
                  <a:lnTo>
                    <a:pt x="2333397" y="0"/>
                  </a:lnTo>
                  <a:lnTo>
                    <a:pt x="2333397" y="2303005"/>
                  </a:lnTo>
                  <a:lnTo>
                    <a:pt x="0" y="2303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2122415"/>
              <a:ext cx="6971024" cy="4342033"/>
            </a:xfrm>
            <a:custGeom>
              <a:avLst/>
              <a:gdLst/>
              <a:ahLst/>
              <a:cxnLst/>
              <a:rect l="l" t="t" r="r" b="b"/>
              <a:pathLst>
                <a:path w="6971024" h="4342033">
                  <a:moveTo>
                    <a:pt x="0" y="0"/>
                  </a:moveTo>
                  <a:lnTo>
                    <a:pt x="6971024" y="0"/>
                  </a:lnTo>
                  <a:lnTo>
                    <a:pt x="6971024" y="4342033"/>
                  </a:lnTo>
                  <a:lnTo>
                    <a:pt x="0" y="4342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5743"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5220976" y="0"/>
              <a:ext cx="1750048" cy="5451418"/>
            </a:xfrm>
            <a:custGeom>
              <a:avLst/>
              <a:gdLst/>
              <a:ahLst/>
              <a:cxnLst/>
              <a:rect l="l" t="t" r="r" b="b"/>
              <a:pathLst>
                <a:path w="1750048" h="5451418">
                  <a:moveTo>
                    <a:pt x="0" y="0"/>
                  </a:moveTo>
                  <a:lnTo>
                    <a:pt x="1750048" y="0"/>
                  </a:lnTo>
                  <a:lnTo>
                    <a:pt x="1750048" y="5451418"/>
                  </a:lnTo>
                  <a:lnTo>
                    <a:pt x="0" y="54514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4862945" y="2122415"/>
              <a:ext cx="1472957" cy="3162988"/>
            </a:xfrm>
            <a:custGeom>
              <a:avLst/>
              <a:gdLst/>
              <a:ahLst/>
              <a:cxnLst/>
              <a:rect l="l" t="t" r="r" b="b"/>
              <a:pathLst>
                <a:path w="1472957" h="3162988">
                  <a:moveTo>
                    <a:pt x="0" y="0"/>
                  </a:moveTo>
                  <a:lnTo>
                    <a:pt x="1472957" y="0"/>
                  </a:lnTo>
                  <a:lnTo>
                    <a:pt x="1472957" y="3162989"/>
                  </a:lnTo>
                  <a:lnTo>
                    <a:pt x="0" y="31629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83324" y="236108"/>
            <a:ext cx="7321566" cy="1200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00"/>
              </a:lnSpc>
            </a:pPr>
            <a:r>
              <a:rPr lang="en-US" sz="7500" b="1" spc="150" dirty="0">
                <a:solidFill>
                  <a:srgbClr val="172243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FEASIBILITY AND VIABILITY</a:t>
            </a:r>
          </a:p>
        </p:txBody>
      </p:sp>
      <p:sp>
        <p:nvSpPr>
          <p:cNvPr id="11" name="Freeform 11"/>
          <p:cNvSpPr/>
          <p:nvPr/>
        </p:nvSpPr>
        <p:spPr>
          <a:xfrm>
            <a:off x="334880" y="1028700"/>
            <a:ext cx="5020450" cy="535667"/>
          </a:xfrm>
          <a:custGeom>
            <a:avLst/>
            <a:gdLst/>
            <a:ahLst/>
            <a:cxnLst/>
            <a:rect l="l" t="t" r="r" b="b"/>
            <a:pathLst>
              <a:path w="5020450" h="535667">
                <a:moveTo>
                  <a:pt x="0" y="0"/>
                </a:moveTo>
                <a:lnTo>
                  <a:pt x="5020450" y="0"/>
                </a:lnTo>
                <a:lnTo>
                  <a:pt x="5020450" y="535667"/>
                </a:lnTo>
                <a:lnTo>
                  <a:pt x="0" y="5356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250" r="-11250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3923818" y="2160727"/>
            <a:ext cx="4364182" cy="2153601"/>
          </a:xfrm>
          <a:custGeom>
            <a:avLst/>
            <a:gdLst/>
            <a:ahLst/>
            <a:cxnLst/>
            <a:rect l="l" t="t" r="r" b="b"/>
            <a:pathLst>
              <a:path w="4364182" h="2153601">
                <a:moveTo>
                  <a:pt x="0" y="0"/>
                </a:moveTo>
                <a:lnTo>
                  <a:pt x="4364182" y="0"/>
                </a:lnTo>
                <a:lnTo>
                  <a:pt x="4364182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68000"/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6178937" y="216170"/>
            <a:ext cx="2160727" cy="2160727"/>
          </a:xfrm>
          <a:custGeom>
            <a:avLst/>
            <a:gdLst/>
            <a:ahLst/>
            <a:cxnLst/>
            <a:rect l="l" t="t" r="r" b="b"/>
            <a:pathLst>
              <a:path w="2160727" h="2160727">
                <a:moveTo>
                  <a:pt x="0" y="0"/>
                </a:moveTo>
                <a:lnTo>
                  <a:pt x="2160726" y="0"/>
                </a:lnTo>
                <a:lnTo>
                  <a:pt x="2160726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A4EDE1D-8AB6-D147-30C9-B051C508CED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7543" y="2646537"/>
            <a:ext cx="10366846" cy="691123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2BFC42E-9817-AE06-DC71-0B803E92F3D2}"/>
              </a:ext>
            </a:extLst>
          </p:cNvPr>
          <p:cNvSpPr txBox="1"/>
          <p:nvPr/>
        </p:nvSpPr>
        <p:spPr>
          <a:xfrm>
            <a:off x="334880" y="1940144"/>
            <a:ext cx="6897376" cy="8156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Feasibility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established web technologies and structured calculation rules.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Regex-based receipt extraction when AI processing is unavailable.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for responsive use on mobile devices.</a:t>
            </a:r>
          </a:p>
          <a:p>
            <a:pPr lvl="0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Operational Feasibility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data-entry and receipt-verification workflow.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Multilingual interface for improved accessibility.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Printable reports for record-keeping and grievance submission.</a:t>
            </a:r>
          </a:p>
          <a:p>
            <a:pPr lvl="0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Economic Viability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ü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Cost-effective</a:t>
            </a:r>
          </a:p>
          <a:p>
            <a:pPr marL="342900" lvl="0" indent="-342900">
              <a:buFont typeface="Wingdings" panose="05000000000000000000" pitchFamily="2" charset="2"/>
              <a:buChar char="ü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value</a:t>
            </a:r>
          </a:p>
          <a:p>
            <a:pPr marL="342900" lvl="0" indent="-342900">
              <a:buFont typeface="Wingdings" panose="05000000000000000000" pitchFamily="2" charset="2"/>
              <a:buChar char="ü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adoption</a:t>
            </a:r>
          </a:p>
          <a:p>
            <a:pPr marL="342900" lvl="0" indent="-342900">
              <a:buFont typeface="Wingdings" panose="05000000000000000000" pitchFamily="2" charset="2"/>
              <a:buChar char="ü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</a:t>
            </a:r>
          </a:p>
          <a:p>
            <a:pPr marL="342900" lvl="0" indent="-342900">
              <a:buFont typeface="Wingdings" panose="05000000000000000000" pitchFamily="2" charset="2"/>
              <a:buChar char="ü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Long-term potential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479517"/>
            <a:chOff x="0" y="0"/>
            <a:chExt cx="24384000" cy="1397268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33397" cy="13147537"/>
            </a:xfrm>
            <a:custGeom>
              <a:avLst/>
              <a:gdLst/>
              <a:ahLst/>
              <a:cxnLst/>
              <a:rect l="l" t="t" r="r" b="b"/>
              <a:pathLst>
                <a:path w="2333397" h="13147537">
                  <a:moveTo>
                    <a:pt x="0" y="0"/>
                  </a:moveTo>
                  <a:lnTo>
                    <a:pt x="2333397" y="0"/>
                  </a:lnTo>
                  <a:lnTo>
                    <a:pt x="2333397" y="13147537"/>
                  </a:lnTo>
                  <a:lnTo>
                    <a:pt x="0" y="131475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9148440" y="8847622"/>
              <a:ext cx="2333397" cy="2303005"/>
            </a:xfrm>
            <a:custGeom>
              <a:avLst/>
              <a:gdLst/>
              <a:ahLst/>
              <a:cxnLst/>
              <a:rect l="l" t="t" r="r" b="b"/>
              <a:pathLst>
                <a:path w="2333397" h="2303005">
                  <a:moveTo>
                    <a:pt x="0" y="0"/>
                  </a:moveTo>
                  <a:lnTo>
                    <a:pt x="2333397" y="0"/>
                  </a:lnTo>
                  <a:lnTo>
                    <a:pt x="2333397" y="2303005"/>
                  </a:lnTo>
                  <a:lnTo>
                    <a:pt x="0" y="2303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17412976" y="9395831"/>
              <a:ext cx="6971024" cy="4342033"/>
            </a:xfrm>
            <a:custGeom>
              <a:avLst/>
              <a:gdLst/>
              <a:ahLst/>
              <a:cxnLst/>
              <a:rect l="l" t="t" r="r" b="b"/>
              <a:pathLst>
                <a:path w="6971024" h="4342033">
                  <a:moveTo>
                    <a:pt x="0" y="0"/>
                  </a:moveTo>
                  <a:lnTo>
                    <a:pt x="6971024" y="0"/>
                  </a:lnTo>
                  <a:lnTo>
                    <a:pt x="6971024" y="4342033"/>
                  </a:lnTo>
                  <a:lnTo>
                    <a:pt x="0" y="4342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5743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9395831"/>
              <a:ext cx="1750048" cy="4576859"/>
            </a:xfrm>
            <a:custGeom>
              <a:avLst/>
              <a:gdLst/>
              <a:ahLst/>
              <a:cxnLst/>
              <a:rect l="l" t="t" r="r" b="b"/>
              <a:pathLst>
                <a:path w="1750048" h="4576859">
                  <a:moveTo>
                    <a:pt x="0" y="0"/>
                  </a:moveTo>
                  <a:lnTo>
                    <a:pt x="1750048" y="0"/>
                  </a:lnTo>
                  <a:lnTo>
                    <a:pt x="1750048" y="4576858"/>
                  </a:lnTo>
                  <a:lnTo>
                    <a:pt x="0" y="4576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22633952" y="7273416"/>
              <a:ext cx="1750048" cy="5451418"/>
            </a:xfrm>
            <a:custGeom>
              <a:avLst/>
              <a:gdLst/>
              <a:ahLst/>
              <a:cxnLst/>
              <a:rect l="l" t="t" r="r" b="b"/>
              <a:pathLst>
                <a:path w="1750048" h="5451418">
                  <a:moveTo>
                    <a:pt x="0" y="0"/>
                  </a:moveTo>
                  <a:lnTo>
                    <a:pt x="1750048" y="0"/>
                  </a:lnTo>
                  <a:lnTo>
                    <a:pt x="1750048" y="5451417"/>
                  </a:lnTo>
                  <a:lnTo>
                    <a:pt x="0" y="54514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2275922" y="9395831"/>
              <a:ext cx="1472957" cy="3162988"/>
            </a:xfrm>
            <a:custGeom>
              <a:avLst/>
              <a:gdLst/>
              <a:ahLst/>
              <a:cxnLst/>
              <a:rect l="l" t="t" r="r" b="b"/>
              <a:pathLst>
                <a:path w="1472957" h="3162988">
                  <a:moveTo>
                    <a:pt x="0" y="0"/>
                  </a:moveTo>
                  <a:lnTo>
                    <a:pt x="1472956" y="0"/>
                  </a:lnTo>
                  <a:lnTo>
                    <a:pt x="1472956" y="3162988"/>
                  </a:lnTo>
                  <a:lnTo>
                    <a:pt x="0" y="3162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-457200" y="236108"/>
            <a:ext cx="7321566" cy="1200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00"/>
              </a:lnSpc>
            </a:pPr>
            <a:r>
              <a:rPr lang="en-US" sz="7500" b="1" spc="150" dirty="0">
                <a:solidFill>
                  <a:srgbClr val="172243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IMPACT AND BENEFITS</a:t>
            </a:r>
          </a:p>
        </p:txBody>
      </p:sp>
      <p:sp>
        <p:nvSpPr>
          <p:cNvPr id="11" name="Freeform 11"/>
          <p:cNvSpPr/>
          <p:nvPr/>
        </p:nvSpPr>
        <p:spPr>
          <a:xfrm>
            <a:off x="355509" y="1028700"/>
            <a:ext cx="5020450" cy="535667"/>
          </a:xfrm>
          <a:custGeom>
            <a:avLst/>
            <a:gdLst/>
            <a:ahLst/>
            <a:cxnLst/>
            <a:rect l="l" t="t" r="r" b="b"/>
            <a:pathLst>
              <a:path w="5020450" h="535667">
                <a:moveTo>
                  <a:pt x="0" y="0"/>
                </a:moveTo>
                <a:lnTo>
                  <a:pt x="5020449" y="0"/>
                </a:lnTo>
                <a:lnTo>
                  <a:pt x="5020449" y="535667"/>
                </a:lnTo>
                <a:lnTo>
                  <a:pt x="0" y="5356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250" r="-11250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3923818" y="2160727"/>
            <a:ext cx="4364182" cy="2153601"/>
          </a:xfrm>
          <a:custGeom>
            <a:avLst/>
            <a:gdLst/>
            <a:ahLst/>
            <a:cxnLst/>
            <a:rect l="l" t="t" r="r" b="b"/>
            <a:pathLst>
              <a:path w="4364182" h="2153601">
                <a:moveTo>
                  <a:pt x="0" y="0"/>
                </a:moveTo>
                <a:lnTo>
                  <a:pt x="4364182" y="0"/>
                </a:lnTo>
                <a:lnTo>
                  <a:pt x="4364182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68000"/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6178937" y="216170"/>
            <a:ext cx="2160727" cy="2160727"/>
          </a:xfrm>
          <a:custGeom>
            <a:avLst/>
            <a:gdLst/>
            <a:ahLst/>
            <a:cxnLst/>
            <a:rect l="l" t="t" r="r" b="b"/>
            <a:pathLst>
              <a:path w="2160727" h="2160727">
                <a:moveTo>
                  <a:pt x="0" y="0"/>
                </a:moveTo>
                <a:lnTo>
                  <a:pt x="2160726" y="0"/>
                </a:lnTo>
                <a:lnTo>
                  <a:pt x="2160726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1023876-F09A-6569-5E9C-B2EB0997A33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8533" y="2393226"/>
            <a:ext cx="10913127" cy="727541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6374CBF-5148-828A-1937-CE01275F8814}"/>
              </a:ext>
            </a:extLst>
          </p:cNvPr>
          <p:cNvSpPr txBox="1"/>
          <p:nvPr/>
        </p:nvSpPr>
        <p:spPr>
          <a:xfrm>
            <a:off x="652981" y="2536546"/>
            <a:ext cx="5465820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 for Beneficiaries</a:t>
            </a:r>
          </a:p>
          <a:p>
            <a:pPr>
              <a:buNone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AutoNum type="arabicPeriod"/>
            </a:pPr>
            <a:r>
              <a:rPr lang="en-IN" sz="2800" dirty="0"/>
              <a:t>Entitlement Clarity</a:t>
            </a:r>
          </a:p>
          <a:p>
            <a:pPr marL="514350" lvl="0" indent="-514350">
              <a:buAutoNum type="arabicPeriod"/>
            </a:pPr>
            <a:r>
              <a:rPr lang="en-IN" sz="2800" dirty="0"/>
              <a:t>Receipt Management</a:t>
            </a:r>
          </a:p>
          <a:p>
            <a:pPr marL="514350" lvl="0" indent="-514350">
              <a:buAutoNum type="arabicPeriod"/>
            </a:pPr>
            <a:r>
              <a:rPr lang="en-IN" sz="2800" dirty="0"/>
              <a:t>Accurate Calculations</a:t>
            </a:r>
          </a:p>
          <a:p>
            <a:pPr marL="514350" lvl="0" indent="-514350">
              <a:buAutoNum type="arabicPeriod"/>
            </a:pPr>
            <a:r>
              <a:rPr lang="en-IN" sz="2800" dirty="0"/>
              <a:t>Multilingual Accessibility</a:t>
            </a:r>
          </a:p>
          <a:p>
            <a:pPr marL="514350" lvl="0" indent="-514350">
              <a:buAutoNum type="arabicPeriod"/>
            </a:pPr>
            <a:r>
              <a:rPr lang="en-IN" sz="2800" dirty="0"/>
              <a:t>Time Saving</a:t>
            </a:r>
          </a:p>
          <a:p>
            <a:pPr marL="514350" lvl="0" indent="-514350">
              <a:buAutoNum type="arabicPeriod"/>
            </a:pPr>
            <a:r>
              <a:rPr lang="en-IN" sz="2800" dirty="0"/>
              <a:t>Provides Accurate Report</a:t>
            </a:r>
          </a:p>
          <a:p>
            <a:pPr marL="514350" lvl="0" indent="-514350">
              <a:buAutoNum type="arabicPeriod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800" b="1" dirty="0"/>
              <a:t>Impact of </a:t>
            </a:r>
            <a:r>
              <a:rPr lang="en-IN" sz="2800" b="1" dirty="0" err="1"/>
              <a:t>RationSaathi</a:t>
            </a:r>
            <a:endParaRPr lang="en-IN" sz="2800" b="1" dirty="0"/>
          </a:p>
          <a:p>
            <a:pPr marL="514350" lvl="0" indent="-514350">
              <a:buAutoNum type="arabicPeriod"/>
            </a:pPr>
            <a:r>
              <a:rPr lang="en-IN" sz="2800" dirty="0"/>
              <a:t>Improved Transparency</a:t>
            </a:r>
          </a:p>
          <a:p>
            <a:pPr marL="514350" lvl="0" indent="-514350">
              <a:buAutoNum type="arabicPeriod"/>
            </a:pPr>
            <a:r>
              <a:rPr lang="en-IN" sz="2800" dirty="0"/>
              <a:t>Constructive Dispute Resolution</a:t>
            </a:r>
          </a:p>
          <a:p>
            <a:pPr marL="514350" lvl="0" indent="-514350">
              <a:buAutoNum type="arabicPeriod"/>
            </a:pPr>
            <a:r>
              <a:rPr lang="en-IN" sz="2800" dirty="0"/>
              <a:t>Protection Against False Allegations</a:t>
            </a:r>
          </a:p>
          <a:p>
            <a:pPr marL="514350" lvl="0" indent="-514350">
              <a:buAutoNum type="arabicPeriod"/>
            </a:pPr>
            <a:r>
              <a:rPr lang="en-IN" sz="2800" dirty="0"/>
              <a:t>Beneficiary Empowerment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479517"/>
            <a:chOff x="0" y="0"/>
            <a:chExt cx="24384000" cy="1397268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33397" cy="13147537"/>
            </a:xfrm>
            <a:custGeom>
              <a:avLst/>
              <a:gdLst/>
              <a:ahLst/>
              <a:cxnLst/>
              <a:rect l="l" t="t" r="r" b="b"/>
              <a:pathLst>
                <a:path w="2333397" h="13147537">
                  <a:moveTo>
                    <a:pt x="0" y="0"/>
                  </a:moveTo>
                  <a:lnTo>
                    <a:pt x="2333397" y="0"/>
                  </a:lnTo>
                  <a:lnTo>
                    <a:pt x="2333397" y="13147537"/>
                  </a:lnTo>
                  <a:lnTo>
                    <a:pt x="0" y="131475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9148440" y="8847622"/>
              <a:ext cx="2333397" cy="2303005"/>
            </a:xfrm>
            <a:custGeom>
              <a:avLst/>
              <a:gdLst/>
              <a:ahLst/>
              <a:cxnLst/>
              <a:rect l="l" t="t" r="r" b="b"/>
              <a:pathLst>
                <a:path w="2333397" h="2303005">
                  <a:moveTo>
                    <a:pt x="0" y="0"/>
                  </a:moveTo>
                  <a:lnTo>
                    <a:pt x="2333397" y="0"/>
                  </a:lnTo>
                  <a:lnTo>
                    <a:pt x="2333397" y="2303005"/>
                  </a:lnTo>
                  <a:lnTo>
                    <a:pt x="0" y="2303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17412976" y="9395831"/>
              <a:ext cx="6971024" cy="4342033"/>
            </a:xfrm>
            <a:custGeom>
              <a:avLst/>
              <a:gdLst/>
              <a:ahLst/>
              <a:cxnLst/>
              <a:rect l="l" t="t" r="r" b="b"/>
              <a:pathLst>
                <a:path w="6971024" h="4342033">
                  <a:moveTo>
                    <a:pt x="0" y="0"/>
                  </a:moveTo>
                  <a:lnTo>
                    <a:pt x="6971024" y="0"/>
                  </a:lnTo>
                  <a:lnTo>
                    <a:pt x="6971024" y="4342033"/>
                  </a:lnTo>
                  <a:lnTo>
                    <a:pt x="0" y="4342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5743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9395831"/>
              <a:ext cx="1750048" cy="4576859"/>
            </a:xfrm>
            <a:custGeom>
              <a:avLst/>
              <a:gdLst/>
              <a:ahLst/>
              <a:cxnLst/>
              <a:rect l="l" t="t" r="r" b="b"/>
              <a:pathLst>
                <a:path w="1750048" h="4576859">
                  <a:moveTo>
                    <a:pt x="0" y="0"/>
                  </a:moveTo>
                  <a:lnTo>
                    <a:pt x="1750048" y="0"/>
                  </a:lnTo>
                  <a:lnTo>
                    <a:pt x="1750048" y="4576858"/>
                  </a:lnTo>
                  <a:lnTo>
                    <a:pt x="0" y="4576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22633952" y="7273416"/>
              <a:ext cx="1750048" cy="5451418"/>
            </a:xfrm>
            <a:custGeom>
              <a:avLst/>
              <a:gdLst/>
              <a:ahLst/>
              <a:cxnLst/>
              <a:rect l="l" t="t" r="r" b="b"/>
              <a:pathLst>
                <a:path w="1750048" h="5451418">
                  <a:moveTo>
                    <a:pt x="0" y="0"/>
                  </a:moveTo>
                  <a:lnTo>
                    <a:pt x="1750048" y="0"/>
                  </a:lnTo>
                  <a:lnTo>
                    <a:pt x="1750048" y="5451417"/>
                  </a:lnTo>
                  <a:lnTo>
                    <a:pt x="0" y="54514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2275922" y="9395831"/>
              <a:ext cx="1472957" cy="3162988"/>
            </a:xfrm>
            <a:custGeom>
              <a:avLst/>
              <a:gdLst/>
              <a:ahLst/>
              <a:cxnLst/>
              <a:rect l="l" t="t" r="r" b="b"/>
              <a:pathLst>
                <a:path w="1472957" h="3162988">
                  <a:moveTo>
                    <a:pt x="0" y="0"/>
                  </a:moveTo>
                  <a:lnTo>
                    <a:pt x="1472956" y="0"/>
                  </a:lnTo>
                  <a:lnTo>
                    <a:pt x="1472956" y="3162988"/>
                  </a:lnTo>
                  <a:lnTo>
                    <a:pt x="0" y="3162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-1143000" y="236108"/>
            <a:ext cx="7321566" cy="1200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00"/>
              </a:lnSpc>
            </a:pPr>
            <a:r>
              <a:rPr lang="en-US" sz="7500" b="1" spc="150" dirty="0">
                <a:solidFill>
                  <a:srgbClr val="172243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DIFFERENTIATOR</a:t>
            </a:r>
          </a:p>
        </p:txBody>
      </p:sp>
      <p:sp>
        <p:nvSpPr>
          <p:cNvPr id="11" name="Freeform 11"/>
          <p:cNvSpPr/>
          <p:nvPr/>
        </p:nvSpPr>
        <p:spPr>
          <a:xfrm>
            <a:off x="355509" y="1028700"/>
            <a:ext cx="5020450" cy="535667"/>
          </a:xfrm>
          <a:custGeom>
            <a:avLst/>
            <a:gdLst/>
            <a:ahLst/>
            <a:cxnLst/>
            <a:rect l="l" t="t" r="r" b="b"/>
            <a:pathLst>
              <a:path w="5020450" h="535667">
                <a:moveTo>
                  <a:pt x="0" y="0"/>
                </a:moveTo>
                <a:lnTo>
                  <a:pt x="5020449" y="0"/>
                </a:lnTo>
                <a:lnTo>
                  <a:pt x="5020449" y="535667"/>
                </a:lnTo>
                <a:lnTo>
                  <a:pt x="0" y="5356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250" r="-11250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3923818" y="2160727"/>
            <a:ext cx="4364182" cy="2153601"/>
          </a:xfrm>
          <a:custGeom>
            <a:avLst/>
            <a:gdLst/>
            <a:ahLst/>
            <a:cxnLst/>
            <a:rect l="l" t="t" r="r" b="b"/>
            <a:pathLst>
              <a:path w="4364182" h="2153601">
                <a:moveTo>
                  <a:pt x="0" y="0"/>
                </a:moveTo>
                <a:lnTo>
                  <a:pt x="4364182" y="0"/>
                </a:lnTo>
                <a:lnTo>
                  <a:pt x="4364182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68000"/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6178937" y="216170"/>
            <a:ext cx="2160727" cy="2160727"/>
          </a:xfrm>
          <a:custGeom>
            <a:avLst/>
            <a:gdLst/>
            <a:ahLst/>
            <a:cxnLst/>
            <a:rect l="l" t="t" r="r" b="b"/>
            <a:pathLst>
              <a:path w="2160727" h="2160727">
                <a:moveTo>
                  <a:pt x="0" y="0"/>
                </a:moveTo>
                <a:lnTo>
                  <a:pt x="2160726" y="0"/>
                </a:lnTo>
                <a:lnTo>
                  <a:pt x="2160726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79DC3E5-D19B-090E-D52E-B75143CBC0A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197" y="2114511"/>
            <a:ext cx="10409669" cy="693977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DD26343-FEBB-79D4-739B-7FBBF4B41A69}"/>
              </a:ext>
            </a:extLst>
          </p:cNvPr>
          <p:cNvSpPr txBox="1"/>
          <p:nvPr/>
        </p:nvSpPr>
        <p:spPr>
          <a:xfrm>
            <a:off x="11523243" y="2479409"/>
            <a:ext cx="6467704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Makes </a:t>
            </a:r>
            <a:r>
              <a:rPr lang="en-I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RationSaathi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Different?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rabicPeriod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Authenticates Beneficiaries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Allocation of Entitlement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 Tracking of Resource Entitlement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Receipt Proof Verification and Validation.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Monthly Tracker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Locates Nearby Shops.</a:t>
            </a:r>
          </a:p>
          <a:p>
            <a:pPr lvl="0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Differentiator: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transparent, user-controlled approach to ration verification that combines AI assistance with deterministic calculations.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4711687"/>
            <a:ext cx="6540804" cy="5148966"/>
          </a:xfrm>
          <a:custGeom>
            <a:avLst/>
            <a:gdLst/>
            <a:ahLst/>
            <a:cxnLst/>
            <a:rect l="l" t="t" r="r" b="b"/>
            <a:pathLst>
              <a:path w="6540804" h="5148966">
                <a:moveTo>
                  <a:pt x="0" y="0"/>
                </a:moveTo>
                <a:lnTo>
                  <a:pt x="6540804" y="0"/>
                </a:lnTo>
                <a:lnTo>
                  <a:pt x="6540804" y="5148965"/>
                </a:lnTo>
                <a:lnTo>
                  <a:pt x="0" y="51489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7175196" y="6854356"/>
            <a:ext cx="4364182" cy="3006296"/>
          </a:xfrm>
          <a:custGeom>
            <a:avLst/>
            <a:gdLst/>
            <a:ahLst/>
            <a:cxnLst/>
            <a:rect l="l" t="t" r="r" b="b"/>
            <a:pathLst>
              <a:path w="4364182" h="3006296">
                <a:moveTo>
                  <a:pt x="0" y="0"/>
                </a:moveTo>
                <a:lnTo>
                  <a:pt x="4364182" y="0"/>
                </a:lnTo>
                <a:lnTo>
                  <a:pt x="4364182" y="3006296"/>
                </a:lnTo>
                <a:lnTo>
                  <a:pt x="0" y="30062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789330" y="7499343"/>
            <a:ext cx="8498670" cy="2361309"/>
          </a:xfrm>
          <a:custGeom>
            <a:avLst/>
            <a:gdLst/>
            <a:ahLst/>
            <a:cxnLst/>
            <a:rect l="l" t="t" r="r" b="b"/>
            <a:pathLst>
              <a:path w="8498670" h="2361309">
                <a:moveTo>
                  <a:pt x="0" y="0"/>
                </a:moveTo>
                <a:lnTo>
                  <a:pt x="8498670" y="0"/>
                </a:lnTo>
                <a:lnTo>
                  <a:pt x="8498670" y="2361309"/>
                </a:lnTo>
                <a:lnTo>
                  <a:pt x="0" y="23613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0" y="7280704"/>
            <a:ext cx="16986402" cy="2798589"/>
          </a:xfrm>
          <a:custGeom>
            <a:avLst/>
            <a:gdLst/>
            <a:ahLst/>
            <a:cxnLst/>
            <a:rect l="l" t="t" r="r" b="b"/>
            <a:pathLst>
              <a:path w="16986402" h="2798589">
                <a:moveTo>
                  <a:pt x="0" y="0"/>
                </a:moveTo>
                <a:lnTo>
                  <a:pt x="16986402" y="0"/>
                </a:lnTo>
                <a:lnTo>
                  <a:pt x="16986402" y="2798588"/>
                </a:lnTo>
                <a:lnTo>
                  <a:pt x="0" y="279858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301598" y="6635716"/>
            <a:ext cx="1312536" cy="3443576"/>
          </a:xfrm>
          <a:custGeom>
            <a:avLst/>
            <a:gdLst/>
            <a:ahLst/>
            <a:cxnLst/>
            <a:rect l="l" t="t" r="r" b="b"/>
            <a:pathLst>
              <a:path w="1312536" h="3443576">
                <a:moveTo>
                  <a:pt x="0" y="0"/>
                </a:moveTo>
                <a:lnTo>
                  <a:pt x="1312536" y="0"/>
                </a:lnTo>
                <a:lnTo>
                  <a:pt x="1312536" y="3443576"/>
                </a:lnTo>
                <a:lnTo>
                  <a:pt x="0" y="344357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2176622" y="5990729"/>
            <a:ext cx="1531292" cy="4088563"/>
          </a:xfrm>
          <a:custGeom>
            <a:avLst/>
            <a:gdLst/>
            <a:ahLst/>
            <a:cxnLst/>
            <a:rect l="l" t="t" r="r" b="b"/>
            <a:pathLst>
              <a:path w="1531292" h="4088563">
                <a:moveTo>
                  <a:pt x="0" y="0"/>
                </a:moveTo>
                <a:lnTo>
                  <a:pt x="1531292" y="0"/>
                </a:lnTo>
                <a:lnTo>
                  <a:pt x="1531292" y="4088563"/>
                </a:lnTo>
                <a:lnTo>
                  <a:pt x="0" y="408856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2840976" y="6635716"/>
            <a:ext cx="1312536" cy="3443576"/>
          </a:xfrm>
          <a:custGeom>
            <a:avLst/>
            <a:gdLst/>
            <a:ahLst/>
            <a:cxnLst/>
            <a:rect l="l" t="t" r="r" b="b"/>
            <a:pathLst>
              <a:path w="1312536" h="3443576">
                <a:moveTo>
                  <a:pt x="0" y="0"/>
                </a:moveTo>
                <a:lnTo>
                  <a:pt x="1312536" y="0"/>
                </a:lnTo>
                <a:lnTo>
                  <a:pt x="1312536" y="3443576"/>
                </a:lnTo>
                <a:lnTo>
                  <a:pt x="0" y="344357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3923818" y="7280704"/>
            <a:ext cx="1104718" cy="2579949"/>
          </a:xfrm>
          <a:custGeom>
            <a:avLst/>
            <a:gdLst/>
            <a:ahLst/>
            <a:cxnLst/>
            <a:rect l="l" t="t" r="r" b="b"/>
            <a:pathLst>
              <a:path w="1104718" h="2579949">
                <a:moveTo>
                  <a:pt x="0" y="0"/>
                </a:moveTo>
                <a:lnTo>
                  <a:pt x="1104718" y="0"/>
                </a:lnTo>
                <a:lnTo>
                  <a:pt x="1104718" y="2579948"/>
                </a:lnTo>
                <a:lnTo>
                  <a:pt x="0" y="257994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0" y="9423373"/>
            <a:ext cx="18288000" cy="863627"/>
          </a:xfrm>
          <a:custGeom>
            <a:avLst/>
            <a:gdLst/>
            <a:ahLst/>
            <a:cxnLst/>
            <a:rect l="l" t="t" r="r" b="b"/>
            <a:pathLst>
              <a:path w="18288000" h="863627">
                <a:moveTo>
                  <a:pt x="0" y="0"/>
                </a:moveTo>
                <a:lnTo>
                  <a:pt x="18288000" y="0"/>
                </a:lnTo>
                <a:lnTo>
                  <a:pt x="18288000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5663020" y="3238633"/>
            <a:ext cx="6961960" cy="2220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129"/>
              </a:lnSpc>
            </a:pPr>
            <a:r>
              <a:rPr lang="en-US" sz="14129" b="1" spc="282">
                <a:solidFill>
                  <a:srgbClr val="141D40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THANK YOU!</a:t>
            </a:r>
          </a:p>
        </p:txBody>
      </p:sp>
      <p:sp>
        <p:nvSpPr>
          <p:cNvPr id="13" name="Freeform 13"/>
          <p:cNvSpPr/>
          <p:nvPr/>
        </p:nvSpPr>
        <p:spPr>
          <a:xfrm>
            <a:off x="3259464" y="5459607"/>
            <a:ext cx="11769072" cy="218640"/>
          </a:xfrm>
          <a:custGeom>
            <a:avLst/>
            <a:gdLst/>
            <a:ahLst/>
            <a:cxnLst/>
            <a:rect l="l" t="t" r="r" b="b"/>
            <a:pathLst>
              <a:path w="11769072" h="218640">
                <a:moveTo>
                  <a:pt x="0" y="0"/>
                </a:moveTo>
                <a:lnTo>
                  <a:pt x="11769072" y="0"/>
                </a:lnTo>
                <a:lnTo>
                  <a:pt x="11769072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7517132" y="5877000"/>
            <a:ext cx="3296956" cy="874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54"/>
              </a:lnSpc>
            </a:pPr>
            <a:r>
              <a:rPr lang="en-US" sz="5554" b="1" spc="276">
                <a:solidFill>
                  <a:srgbClr val="323F9D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VORTEXA 3.0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581401" y="7052188"/>
            <a:ext cx="1168417" cy="865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54"/>
              </a:lnSpc>
            </a:pPr>
            <a:r>
              <a:rPr lang="en-US" sz="5554" b="1" spc="276">
                <a:solidFill>
                  <a:srgbClr val="ED8076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AIRS</a:t>
            </a:r>
          </a:p>
        </p:txBody>
      </p:sp>
      <p:sp>
        <p:nvSpPr>
          <p:cNvPr id="16" name="TextBox 16"/>
          <p:cNvSpPr txBox="1"/>
          <p:nvPr/>
        </p:nvSpPr>
        <p:spPr>
          <a:xfrm rot="-769921">
            <a:off x="15555796" y="4644632"/>
            <a:ext cx="1911526" cy="1704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55"/>
              </a:lnSpc>
            </a:pPr>
            <a:r>
              <a:rPr lang="en-US" sz="5211">
                <a:solidFill>
                  <a:srgbClr val="ED8076"/>
                </a:solidFill>
                <a:latin typeface="Heading Now 31-38"/>
                <a:ea typeface="Heading Now 31-38"/>
                <a:cs typeface="Heading Now 31-38"/>
                <a:sym typeface="Heading Now 31-38"/>
              </a:rPr>
              <a:t>Game’s</a:t>
            </a:r>
          </a:p>
          <a:p>
            <a:pPr algn="ctr">
              <a:lnSpc>
                <a:spcPts val="6255"/>
              </a:lnSpc>
            </a:pPr>
            <a:r>
              <a:rPr lang="en-US" sz="5211">
                <a:solidFill>
                  <a:srgbClr val="ED8076"/>
                </a:solidFill>
                <a:latin typeface="Heading Now 31-38"/>
                <a:ea typeface="Heading Now 31-38"/>
                <a:cs typeface="Heading Now 31-38"/>
                <a:sym typeface="Heading Now 31-38"/>
              </a:rPr>
              <a:t>Still On</a:t>
            </a:r>
          </a:p>
        </p:txBody>
      </p:sp>
      <p:sp>
        <p:nvSpPr>
          <p:cNvPr id="17" name="Freeform 17"/>
          <p:cNvSpPr/>
          <p:nvPr/>
        </p:nvSpPr>
        <p:spPr>
          <a:xfrm>
            <a:off x="15892622" y="5998497"/>
            <a:ext cx="2187560" cy="1082267"/>
          </a:xfrm>
          <a:custGeom>
            <a:avLst/>
            <a:gdLst/>
            <a:ahLst/>
            <a:cxnLst/>
            <a:rect l="l" t="t" r="r" b="b"/>
            <a:pathLst>
              <a:path w="2187560" h="1082267">
                <a:moveTo>
                  <a:pt x="0" y="0"/>
                </a:moveTo>
                <a:lnTo>
                  <a:pt x="2187560" y="0"/>
                </a:lnTo>
                <a:lnTo>
                  <a:pt x="2187560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6178937" y="216170"/>
            <a:ext cx="2160727" cy="2160727"/>
          </a:xfrm>
          <a:custGeom>
            <a:avLst/>
            <a:gdLst/>
            <a:ahLst/>
            <a:cxnLst/>
            <a:rect l="l" t="t" r="r" b="b"/>
            <a:pathLst>
              <a:path w="2160727" h="2160727">
                <a:moveTo>
                  <a:pt x="0" y="0"/>
                </a:moveTo>
                <a:lnTo>
                  <a:pt x="2160726" y="0"/>
                </a:lnTo>
                <a:lnTo>
                  <a:pt x="2160726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</TotalTime>
  <Words>407</Words>
  <Application>Microsoft Office PowerPoint</Application>
  <PresentationFormat>Custom</PresentationFormat>
  <Paragraphs>86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Times New Roman</vt:lpstr>
      <vt:lpstr>Arial</vt:lpstr>
      <vt:lpstr>Wingdings</vt:lpstr>
      <vt:lpstr>Heading Now 31-38 Bold</vt:lpstr>
      <vt:lpstr>Calibri</vt:lpstr>
      <vt:lpstr>Heading Now 31-38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VORTEXA 3.0 Hackathon</dc:title>
  <cp:lastModifiedBy>Mehek</cp:lastModifiedBy>
  <cp:revision>5</cp:revision>
  <dcterms:created xsi:type="dcterms:W3CDTF">2006-08-16T00:00:00Z</dcterms:created>
  <dcterms:modified xsi:type="dcterms:W3CDTF">2026-10-11T14:43:03Z</dcterms:modified>
  <dc:identifier>DAHXr7I3BNw</dc:identifier>
</cp:coreProperties>
</file>